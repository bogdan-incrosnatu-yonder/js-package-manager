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E05252"/>
            </a:solidFill>
            <a:effectLst/>
          </c:spPr>
          <c:invertIfNegative val="0"/>
          <c:dLbls>
            <c:numFmt formatCode="0.0&quot;s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E8ECF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525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C6FA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npm</c:v>
                  </c:pt>
                  <c:pt idx="1">
                    <c:v>yarn</c:v>
                  </c:pt>
                  <c:pt idx="2">
                    <c:v>pnpm</c:v>
                  </c:pt>
                  <c:pt idx="3">
                    <c:v>Bun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14.3</c:v>
                </c:pt>
                <c:pt idx="1">
                  <c:v>6.8</c:v>
                </c:pt>
                <c:pt idx="2">
                  <c:v>4.2</c:v>
                </c:pt>
                <c:pt idx="3">
                  <c:v>0.8</c:v>
                </c:pt>
              </c:numCache>
            </c:numRef>
          </c:val>
        </c:ser>
        <c:dLbls>
          <c:numFmt formatCode="0.0&quot;s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E8ECF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E8ECF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61C"/>
        </a:solidFill>
        <a:ln w="12700" cap="flat">
          <a:solidFill>
            <a:srgbClr val="12161C"/>
          </a:solidFill>
        </a:ln>
        <a:effectLst/>
      </c:spPr>
    </c:plotArea>
    <c:plotVisOnly val="1"/>
    <c:dispBlanksAs val="span"/>
  </c:chart>
  <c:spPr>
    <a:solidFill>
      <a:srgbClr val="12161C"/>
    </a:solidFill>
    <a:ln w="12700" cap="flat">
      <a:solidFill>
        <a:srgbClr val="12161C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E05252"/>
            </a:solidFill>
            <a:effectLst/>
          </c:spPr>
          <c:invertIfNegative val="0"/>
          <c:dLbls>
            <c:numFmt formatCode="0.0&quot;s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E8ECF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525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C6FA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npm</c:v>
                  </c:pt>
                  <c:pt idx="1">
                    <c:v>yarn</c:v>
                  </c:pt>
                  <c:pt idx="2">
                    <c:v>pnpm</c:v>
                  </c:pt>
                  <c:pt idx="3">
                    <c:v>Bun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134.2</c:v>
                </c:pt>
                <c:pt idx="1">
                  <c:v>52.3</c:v>
                </c:pt>
                <c:pt idx="2">
                  <c:v>28.6</c:v>
                </c:pt>
                <c:pt idx="3">
                  <c:v>4.8</c:v>
                </c:pt>
              </c:numCache>
            </c:numRef>
          </c:val>
        </c:ser>
        <c:dLbls>
          <c:numFmt formatCode="0.0&quot;s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E8ECF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E8ECF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61C"/>
        </a:solidFill>
        <a:ln w="12700" cap="flat">
          <a:solidFill>
            <a:srgbClr val="12161C"/>
          </a:solidFill>
        </a:ln>
        <a:effectLst/>
      </c:spPr>
    </c:plotArea>
    <c:plotVisOnly val="1"/>
    <c:dispBlanksAs val="span"/>
  </c:chart>
  <c:spPr>
    <a:solidFill>
      <a:srgbClr val="12161C"/>
    </a:solidFill>
    <a:ln w="12700" cap="flat">
      <a:solidFill>
        <a:srgbClr val="12161C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MB</c:v>
                </c:pt>
              </c:strCache>
            </c:strRef>
          </c:tx>
          <c:spPr>
            <a:solidFill>
              <a:srgbClr val="4A9FD4"/>
            </a:solidFill>
            <a:effectLst/>
          </c:spPr>
          <c:invertIfNegative val="0"/>
          <c:dLbls>
            <c:numFmt formatCode="0&quot; MB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E8ECF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52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C6F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yarn</c:v>
                  </c:pt>
                  <c:pt idx="1">
                    <c:v>npm</c:v>
                  </c:pt>
                  <c:pt idx="2">
                    <c:v>Bun</c:v>
                  </c:pt>
                  <c:pt idx="3">
                    <c:v>pnpm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502</c:v>
                </c:pt>
                <c:pt idx="1">
                  <c:v>487</c:v>
                </c:pt>
                <c:pt idx="2">
                  <c:v>461</c:v>
                </c:pt>
                <c:pt idx="3">
                  <c:v>124</c:v>
                </c:pt>
              </c:numCache>
            </c:numRef>
          </c:val>
        </c:ser>
        <c:dLbls>
          <c:numFmt formatCode="0&quot; MB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E8ECF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E8ECF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61C"/>
        </a:solidFill>
        <a:ln w="12700" cap="flat">
          <a:solidFill>
            <a:srgbClr val="12161C"/>
          </a:solidFill>
        </a:ln>
        <a:effectLst/>
      </c:spPr>
    </c:plotArea>
    <c:plotVisOnly val="1"/>
    <c:dispBlanksAs val="span"/>
  </c:chart>
  <c:spPr>
    <a:solidFill>
      <a:srgbClr val="12161C"/>
    </a:solidFill>
    <a:ln w="12700" cap="flat">
      <a:solidFill>
        <a:srgbClr val="12161C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E05252"/>
            </a:solidFill>
            <a:effectLst/>
          </c:spPr>
          <c:invertIfNegative val="0"/>
          <c:dLbls>
            <c:numFmt formatCode="0&quot;s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E8ECF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525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9F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C6FA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npm</c:v>
                  </c:pt>
                  <c:pt idx="1">
                    <c:v>yarn</c:v>
                  </c:pt>
                  <c:pt idx="2">
                    <c:v>pnpm</c:v>
                  </c:pt>
                  <c:pt idx="3">
                    <c:v>Bun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21</c:v>
                </c:pt>
                <c:pt idx="2">
                  <c:v>14</c:v>
                </c:pt>
                <c:pt idx="3">
                  <c:v>3</c:v>
                </c:pt>
              </c:numCache>
            </c:numRef>
          </c:val>
        </c:ser>
        <c:dLbls>
          <c:numFmt formatCode="0&quot;s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E8ECF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E8ECF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61C"/>
        </a:solidFill>
        <a:ln w="12700" cap="flat">
          <a:solidFill>
            <a:srgbClr val="12161C"/>
          </a:solidFill>
        </a:ln>
        <a:effectLst/>
      </c:spPr>
    </c:plotArea>
    <c:plotVisOnly val="1"/>
    <c:dispBlanksAs val="span"/>
  </c:chart>
  <c:spPr>
    <a:solidFill>
      <a:srgbClr val="12161C"/>
    </a:solidFill>
    <a:ln w="12700" cap="flat">
      <a:solidFill>
        <a:srgbClr val="12161C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tools, one job. The article compares four; Deno is added here because it is now a real option for the same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has used at least three of these. The real difference is the store model and the lockfile, not the commands you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room only remembers one slide, make it this one. Note that the Deno row comes from Deno's docs, not the article's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18x sounds dramatic but 13 seconds of wall clock rarely changes anyone's day on a small repo.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it starts to matter. 134 seconds is long enough that people context-switch and lose the thread.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disk win is the one people underestimate — it compounds across every checkout on a laptop and every CI runner.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is where install time is paid over and over. This is the slide to bring to whoever owns the CI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we are a monorepo shop, this slide plus the disk slide is effectively the whole argument for pnpm.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 the Bun gap honestly. It is the strongest reason to keep Bun out of production paths for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Compatibility used to be the trump card for npm. It is now a tiebreaker, not a trump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that adopting Deno is a runtime decision. Do not let it get compared like-for-like with swapping an installer.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which constraint they think dominates for us. The answer should be one of these six boxes.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on consistency. A slower tool used everywhere beats a faster tool used in three of eleven repos.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TOOLING  ·  2026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vs yarn vs pnpm vs Bun vs Deno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0428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2026 benchmarks actually say — and which one your team should standardize on.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61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time &lt;pm&gt; install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310128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3101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83080" y="3310128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83080" y="33101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3310128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33101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3310128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EC6FA8"/>
          </a:solidFill>
          <a:ln w="12700">
            <a:solidFill>
              <a:srgbClr val="EC6F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51960" y="33101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3310128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6FD6A0"/>
          </a:solidFill>
          <a:ln w="12700">
            <a:solidFill>
              <a:srgbClr val="6FD6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331012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dev.to / Pockit Tools — “pnpm vs npm vs yarn vs Bun: The 2026 Package Manager Showdown”; deno.com; PkgPulse Deno 3 guide.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GUIDE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contenders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576072"/>
          </a:xfrm>
          <a:prstGeom prst="roundRect">
            <a:avLst>
              <a:gd name="adj" fmla="val 7937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07592"/>
            <a:ext cx="960120" cy="301752"/>
          </a:xfrm>
          <a:prstGeom prst="roundRect">
            <a:avLst>
              <a:gd name="adj" fmla="val 24242"/>
            </a:avLst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07592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216152"/>
            <a:ext cx="4206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default. Ships with Node, maximum compatibility.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216152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package-lock.json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node_modules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37944"/>
            <a:ext cx="8229600" cy="576072"/>
          </a:xfrm>
          <a:prstGeom prst="roundRect">
            <a:avLst>
              <a:gd name="adj" fmla="val 7937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75104"/>
            <a:ext cx="960120" cy="301752"/>
          </a:xfrm>
          <a:prstGeom prst="roundRect">
            <a:avLst>
              <a:gd name="adj" fmla="val 24242"/>
            </a:avLst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1975104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1883664"/>
            <a:ext cx="4206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4: plugin architecture and Plug'n'Play zero-installs.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1883664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yarn.lock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 or node_modules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05456"/>
            <a:ext cx="8229600" cy="576072"/>
          </a:xfrm>
          <a:prstGeom prst="roundRect">
            <a:avLst>
              <a:gd name="adj" fmla="val 7937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642616"/>
            <a:ext cx="960120" cy="301752"/>
          </a:xfrm>
          <a:prstGeom prst="roundRect">
            <a:avLst>
              <a:gd name="adj" fmla="val 24242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642616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2551176"/>
            <a:ext cx="4206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Content-addressable store, hard-linked into projects.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2551176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pnpm-lock.yaml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symlinked store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72968"/>
            <a:ext cx="8229600" cy="576072"/>
          </a:xfrm>
          <a:prstGeom prst="roundRect">
            <a:avLst>
              <a:gd name="adj" fmla="val 7937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3310128"/>
            <a:ext cx="960120" cy="301752"/>
          </a:xfrm>
          <a:prstGeom prst="roundRect">
            <a:avLst>
              <a:gd name="adj" fmla="val 24242"/>
            </a:avLst>
          </a:prstGeom>
          <a:solidFill>
            <a:srgbClr val="EC6FA8"/>
          </a:solidFill>
          <a:ln w="12700">
            <a:solidFill>
              <a:srgbClr val="EC6F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3310128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3218688"/>
            <a:ext cx="4206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manager bundled into a very fast runtime.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3218688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bun.lockb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node_modules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8229600" cy="576072"/>
          </a:xfrm>
          <a:prstGeom prst="roundRect">
            <a:avLst>
              <a:gd name="adj" fmla="val 7937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" y="3977640"/>
            <a:ext cx="960120" cy="301752"/>
          </a:xfrm>
          <a:prstGeom prst="roundRect">
            <a:avLst>
              <a:gd name="adj" fmla="val 24242"/>
            </a:avLst>
          </a:prstGeom>
          <a:solidFill>
            <a:srgbClr val="6FD6A0"/>
          </a:solidFill>
          <a:ln w="12700">
            <a:solidFill>
              <a:srgbClr val="6FD6A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" y="3977640"/>
            <a:ext cx="960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783080" y="3886200"/>
            <a:ext cx="4206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+ toolchain; npm: and jsr: imports, sandboxed.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126480" y="3886200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deno.lock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cache (auto n_m)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183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Lockfile and install strategy are what actually differ — the CLI surface is nearly identical across all five.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TL;DR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by scenario, not by benchmark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88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/ small projects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154680" y="1307592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EC6FA8"/>
          </a:solidFill>
          <a:ln w="12700">
            <a:solidFill>
              <a:srgbClr val="EC6F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54680" y="1307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188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by far, simplest setup.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17739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monorepos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54680" y="1892808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54680" y="18928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177393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disk efficiency and workspace support.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359152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23591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/ legacy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154680" y="2478024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54680" y="2478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235915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compatibility, zero surprises.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2944368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29443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on Yarn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154680" y="3063240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54680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29443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4 PnP + plugin architecture is worth staying for.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529584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35295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at scale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154680" y="3648456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154680" y="3648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297680" y="35295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or Bun both excel; pnpm is more mature.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no-config work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154680" y="4233672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6FD6A0"/>
          </a:solidFill>
          <a:ln w="12700">
            <a:solidFill>
              <a:srgbClr val="6FD6A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154680" y="42336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297680" y="4114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sandbox, TS + test + lint + fmt built in.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7183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1–5 per the source article; Deno row added from Deno 2/3 documentation.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install — small project (50 deps)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97280"/>
          <a:ext cx="5486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97280"/>
            <a:ext cx="2651760" cy="1371600"/>
          </a:xfrm>
          <a:prstGeom prst="roundRect">
            <a:avLst>
              <a:gd name="adj" fmla="val 3333"/>
            </a:avLst>
          </a:prstGeom>
          <a:solidFill>
            <a:srgbClr val="232B36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17043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C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18×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1847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vs npm on the same 50-dep install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2606040"/>
            <a:ext cx="2651760" cy="1508760"/>
          </a:xfrm>
          <a:prstGeom prst="roundRect">
            <a:avLst>
              <a:gd name="adj" fmla="val 3030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99632" y="2743200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6FD6A0"/>
          </a:solidFill>
          <a:ln w="12700">
            <a:solidFill>
              <a:srgbClr val="6FD6A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99632" y="27432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199632" y="309067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this benchmark set. Deno reports deno install ~15% faster than npm cold, ~90% faster warm.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183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cache, no lockfile reuse. npm = baseline. Deno figure is self-reported (deno.com), not from the same test rig.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02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install — large monorepo (800 deps)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97280"/>
          <a:ext cx="5486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97280"/>
            <a:ext cx="2651760" cy="1371600"/>
          </a:xfrm>
          <a:prstGeom prst="roundRect">
            <a:avLst>
              <a:gd name="adj" fmla="val 3333"/>
            </a:avLst>
          </a:prstGeom>
          <a:solidFill>
            <a:srgbClr val="232B36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17043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C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28×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1847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14s of npm becomes under 5 seconds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2606040"/>
            <a:ext cx="2651760" cy="1508760"/>
          </a:xfrm>
          <a:prstGeom prst="roundRect">
            <a:avLst>
              <a:gd name="adj" fmla="val 3030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99632" y="27432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widens with scale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199632" y="3054096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npm's penalty grows from 18× to 28× between 50 and 800 dependencies. Small repos hide the difference.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183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dev.to / Pockit Tools 2026 showdown. Deno was not measured in this benchmark set.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03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 footprint — 200-dependency project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97280"/>
          <a:ext cx="5486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97280"/>
            <a:ext cx="2651760" cy="1371600"/>
          </a:xfrm>
          <a:prstGeom prst="roundRect">
            <a:avLst>
              <a:gd name="adj" fmla="val 3333"/>
            </a:avLst>
          </a:prstGeom>
          <a:solidFill>
            <a:srgbClr val="232B36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17043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1847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by pnpm across 10 overlapping projects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2606040"/>
            <a:ext cx="2651760" cy="1508760"/>
          </a:xfrm>
          <a:prstGeom prst="roundRect">
            <a:avLst>
              <a:gd name="adj" fmla="val 3030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99632" y="2743200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6FD6A0"/>
          </a:solidFill>
          <a:ln w="12700">
            <a:solidFill>
              <a:srgbClr val="6FD6A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99632" y="27432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199632" y="3090672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modules globally and only materializes node_modules when a project needs it — closer to pnpm's model than npm's.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183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pnpm's 75% reduction comes from a content-addressable store hard-linked into each project, not from smaller packages.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ACTUALLY COSTS MONEY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and Docker builds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 clean cache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298448"/>
          <a:ext cx="5212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298448"/>
            <a:ext cx="2926080" cy="1298448"/>
          </a:xfrm>
          <a:prstGeom prst="roundRect">
            <a:avLst>
              <a:gd name="adj" fmla="val 3521"/>
            </a:avLst>
          </a:prstGeom>
          <a:solidFill>
            <a:srgbClr val="232B36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0" y="14173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no layer cache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171907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6s</a:t>
            </a:r>
            <a:pPr indent="0" marL="0">
              <a:buNone/>
            </a:pPr>
            <a:r>
              <a:rPr lang="en-US" sz="110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Bun</a:t>
            </a:r>
            <a:pPr indent="0" marL="0">
              <a:buNone/>
            </a:pPr>
            <a:r>
              <a:rPr lang="en-US" sz="110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pPr indent="0" marL="0">
              <a:buNone/>
            </a:pPr>
            <a:r>
              <a:rPr lang="en-US" sz="2400" b="1" dirty="0">
                <a:solidFill>
                  <a:srgbClr val="E0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52s</a:t>
            </a:r>
            <a:pPr indent="0" marL="0">
              <a:buNone/>
            </a:pPr>
            <a:r>
              <a:rPr lang="en-US" sz="110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npm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760720" y="2724912"/>
            <a:ext cx="2926080" cy="1316736"/>
          </a:xfrm>
          <a:prstGeom prst="roundRect">
            <a:avLst>
              <a:gd name="adj" fmla="val 3472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0" y="285292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arithmetic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312724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45s saved per run × 200 runs a week is 2.5 hours of runner time — the clearest ROI in this whole comparison.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183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Clean-cache numbers. A warm CI cache narrows every gap — measure your own pipeline before switching.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Monorepo support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25880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258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18872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118872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protocol, selective install, parallel task execution.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84248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198424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184708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184708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feature set plus PnP zero-installs and constraints.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505456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642616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6FD6A0"/>
          </a:solidFill>
          <a:ln w="12700">
            <a:solidFill>
              <a:srgbClr val="6FD6A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64261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250545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2505456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in deno.json; deno task --filter; hybrid Deno/npm members.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163824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3300984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EC6FA8"/>
          </a:solidFill>
          <a:ln w="12700">
            <a:solidFill>
              <a:srgbClr val="EC6F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330098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316382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063240" y="3163824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work and are fast, but the tooling is younger.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822192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" y="3959352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" y="395935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783080" y="382219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063240" y="3822192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exist and function; thin on filtering and orchestration.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183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run a monorepo, workspace ergonomics matter more day to day than install speed.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auditing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1155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cmd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617720" y="11155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11155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SBOM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269480" y="11155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463040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4630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1371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F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1371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F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1371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F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13716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1906524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1997964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199796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190652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190652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F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190652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190652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2441448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" y="2532888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" y="25328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291840" y="2441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F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617720" y="2441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F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943600" y="2441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F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269480" y="2441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2976372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" y="3067812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EC6FA8"/>
          </a:solidFill>
          <a:ln w="12700">
            <a:solidFill>
              <a:srgbClr val="EC6FA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" y="30678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291840" y="29763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617720" y="29763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943600" y="29763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269480" y="29763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3511296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" y="3602736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6FD6A0"/>
          </a:solidFill>
          <a:ln w="12700">
            <a:solidFill>
              <a:srgbClr val="6FD6A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1792" y="360273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3291840" y="35112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4617720" y="35112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5943600" y="35112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35112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F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57200" y="4096512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232B36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8368" y="409651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ships no built-in security auditing</a:t>
            </a:r>
            <a:pPr indent="0" marL="0">
              <a:buNone/>
            </a:pPr>
            <a:r>
              <a:rPr lang="en-US" sz="110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budget a third-party scanner before production. Deno takes the opposite route: no audit command, but deny-by-default file and network permissions at runtime.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compatibility in 2026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38528" cy="1828800"/>
          </a:xfrm>
          <a:prstGeom prst="roundRect">
            <a:avLst>
              <a:gd name="adj" fmla="val 2500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53312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533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28600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Baseline. Everything is tested against it.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78608" y="1188720"/>
            <a:ext cx="1938528" cy="1828800"/>
          </a:xfrm>
          <a:prstGeom prst="roundRect">
            <a:avLst>
              <a:gd name="adj" fmla="val 2500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353312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13533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578608" y="16916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~98%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28600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packages need strict hoisting disabled.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0016" y="1188720"/>
            <a:ext cx="1938528" cy="1828800"/>
          </a:xfrm>
          <a:prstGeom prst="roundRect">
            <a:avLst>
              <a:gd name="adj" fmla="val 2500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64608" y="1353312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EC6FA8"/>
          </a:solidFill>
          <a:ln w="12700">
            <a:solidFill>
              <a:srgbClr val="EC6FA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64608" y="13533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700016" y="16916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6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~98%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4864608" y="228600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95% in 2025 — closing fast.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21424" y="1188720"/>
            <a:ext cx="1938528" cy="1828800"/>
          </a:xfrm>
          <a:prstGeom prst="roundRect">
            <a:avLst>
              <a:gd name="adj" fmla="val 2500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86016" y="1353312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6FD6A0"/>
          </a:solidFill>
          <a:ln w="12700">
            <a:solidFill>
              <a:srgbClr val="6FD6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86016" y="13533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821424" y="16916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F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~97%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6986016" y="2286000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top 1,000 npm packages; native addons now work.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8229600" cy="658368"/>
          </a:xfrm>
          <a:prstGeom prst="roundRect">
            <a:avLst>
              <a:gd name="adj" fmla="val 6944"/>
            </a:avLst>
          </a:prstGeom>
          <a:solidFill>
            <a:srgbClr val="232B36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" y="338328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" y="33832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691640" y="3200400"/>
            <a:ext cx="6812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 PnP is the outlier: not universally supported, so keep the node_modules fallback available for packages that assume a real directory tree.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compatibility argument for npm is thinner than it was — but it is still the only 100%.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183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as of January 2026 (article) and Deno 3 documentation.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FIFTH CONTENDER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 changes the question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86384"/>
          </a:xfrm>
          <a:prstGeom prst="roundRect">
            <a:avLst>
              <a:gd name="adj" fmla="val 5814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89888"/>
            <a:ext cx="384048" cy="384048"/>
          </a:xfrm>
          <a:prstGeom prst="ellipse">
            <a:avLst/>
          </a:prstGeom>
          <a:solidFill>
            <a:srgbClr val="6FD6A0"/>
          </a:solidFill>
          <a:ln w="12700">
            <a:solidFill>
              <a:srgbClr val="6FD6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30759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and package manager in one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57276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 install, deno add, deno remove read either package.json or deno.json — no separate tool to install.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066544"/>
            <a:ext cx="8229600" cy="786384"/>
          </a:xfrm>
          <a:prstGeom prst="roundRect">
            <a:avLst>
              <a:gd name="adj" fmla="val 5814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267712"/>
            <a:ext cx="384048" cy="384048"/>
          </a:xfrm>
          <a:prstGeom prst="ellipse">
            <a:avLst/>
          </a:prstGeom>
          <a:solidFill>
            <a:srgbClr val="6FD6A0"/>
          </a:solidFill>
          <a:ln w="12700">
            <a:solidFill>
              <a:srgbClr val="6FD6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18541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registries, one syntax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45059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npm: specifiers reach 2M+ npm modules; jsr: reaches JSR, which serves TypeScript natively with generated docs.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44368"/>
            <a:ext cx="8229600" cy="786384"/>
          </a:xfrm>
          <a:prstGeom prst="roundRect">
            <a:avLst>
              <a:gd name="adj" fmla="val 5814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145536"/>
            <a:ext cx="384048" cy="384048"/>
          </a:xfrm>
          <a:prstGeom prst="ellipse">
            <a:avLst/>
          </a:prstGeom>
          <a:solidFill>
            <a:srgbClr val="6FD6A0"/>
          </a:solidFill>
          <a:ln w="12700">
            <a:solidFill>
              <a:srgbClr val="6FD6A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06324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default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32841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file, network and env access — and the sandbox still applies when you import npm packages.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822192"/>
            <a:ext cx="8229600" cy="786384"/>
          </a:xfrm>
          <a:prstGeom prst="roundRect">
            <a:avLst>
              <a:gd name="adj" fmla="val 5814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023360"/>
            <a:ext cx="384048" cy="384048"/>
          </a:xfrm>
          <a:prstGeom prst="ellipse">
            <a:avLst/>
          </a:prstGeom>
          <a:solidFill>
            <a:srgbClr val="6FD6A0"/>
          </a:solidFill>
          <a:ln w="12700">
            <a:solidFill>
              <a:srgbClr val="6FD6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94106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eslint/prettier/vitest tax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20624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TypeScript, test runner, formatter, linter and deno compile are in the box.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183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trade: you adopt a runtime, not just an installer. That is a bigger decision than swapping npm for pnpm.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AID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your constraint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15184" cy="1417320"/>
          </a:xfrm>
          <a:prstGeom prst="roundRect">
            <a:avLst>
              <a:gd name="adj" fmla="val 3226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5331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or store pressure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84708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8470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7627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less disk on one project, 87% across ten.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188720"/>
            <a:ext cx="2615184" cy="1417320"/>
          </a:xfrm>
          <a:prstGeom prst="roundRect">
            <a:avLst>
              <a:gd name="adj" fmla="val 3226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7288" y="135331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minutes are the pain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47288" y="184708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EC6FA8"/>
          </a:solidFill>
          <a:ln w="12700">
            <a:solidFill>
              <a:srgbClr val="EC6F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47288" y="18470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217627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48s → 3s on a clean-cache Actions install.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71616" y="1188720"/>
            <a:ext cx="2615184" cy="1417320"/>
          </a:xfrm>
          <a:prstGeom prst="roundRect">
            <a:avLst>
              <a:gd name="adj" fmla="val 3226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54496" y="1353312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and audit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54496" y="184708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54496" y="18470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17627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audit, auto-fix and SBOM, no plugins.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61488"/>
            <a:ext cx="2615184" cy="1417320"/>
          </a:xfrm>
          <a:prstGeom prst="roundRect">
            <a:avLst>
              <a:gd name="adj" fmla="val 3226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multi-package repo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3419856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4198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74904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protocol and filtering are mature.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64408" y="2761488"/>
            <a:ext cx="2615184" cy="1417320"/>
          </a:xfrm>
          <a:prstGeom prst="roundRect">
            <a:avLst>
              <a:gd name="adj" fmla="val 3226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47288" y="29260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code or scripts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447288" y="3419856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6FD6A0"/>
          </a:solidFill>
          <a:ln w="12700">
            <a:solidFill>
              <a:srgbClr val="6FD6A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47288" y="34198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447288" y="374904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sandbox applies to npm imports too.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71616" y="2761488"/>
            <a:ext cx="2615184" cy="1417320"/>
          </a:xfrm>
          <a:prstGeom prst="roundRect">
            <a:avLst>
              <a:gd name="adj" fmla="val 3226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54496" y="29260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productive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54496" y="3419856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54496" y="341985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yarn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254496" y="374904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migrating usually exceeds the gain.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7183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constraint usually dominates. Optimize for that one and ignore the rest of the table.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 on Monday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8229600" cy="777240"/>
          </a:xfrm>
          <a:prstGeom prst="roundRect">
            <a:avLst>
              <a:gd name="adj" fmla="val 5882"/>
            </a:avLst>
          </a:prstGeom>
          <a:solidFill>
            <a:srgbClr val="232B36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11556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“All four package managers work fine for most projects.”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111556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source article's own conclusion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8229600" cy="768096"/>
          </a:xfrm>
          <a:prstGeom prst="roundRect">
            <a:avLst>
              <a:gd name="adj" fmla="val 5952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276856"/>
            <a:ext cx="365760" cy="36576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276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167128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before you optimize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432304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across every repo beats a faster one used inconsistently — enforce it with packageManager in package.json plus a CI check.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768096"/>
          </a:xfrm>
          <a:prstGeom prst="roundRect">
            <a:avLst>
              <a:gd name="adj" fmla="val 5952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118104"/>
            <a:ext cx="365760" cy="36576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008376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CI first, developers second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73552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install-time win is largest and least risky in the pipeline. Prove it there before changing anyone's local setup.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767328"/>
            <a:ext cx="8229600" cy="768096"/>
          </a:xfrm>
          <a:prstGeom prst="roundRect">
            <a:avLst>
              <a:gd name="adj" fmla="val 5952"/>
            </a:avLst>
          </a:prstGeom>
          <a:solidFill>
            <a:srgbClr val="1C222B"/>
          </a:solidFill>
          <a:ln w="12700">
            <a:solidFill>
              <a:srgbClr val="2E38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959352"/>
            <a:ext cx="365760" cy="36576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07008" y="3849624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Pilot, don't migrate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4114800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candidate on one real repo for a sprint. Watch postinstall scripts, native modules and anything assuming a flat node_modules.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183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dev.to/pockit_tools 2026 showdown · deno.com/blog/v2.0 · pkgpulse.com Deno 3 guide.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JS Package Managers 2026</dc:title>
  <dc:subject>PptxGenJS Presentation</dc:subject>
  <dc:creator>Bogdan</dc:creator>
  <cp:lastModifiedBy>Bogdan</cp:lastModifiedBy>
  <cp:revision>1</cp:revision>
  <dcterms:created xsi:type="dcterms:W3CDTF">2026-09-02T12:34:38Z</dcterms:created>
  <dcterms:modified xsi:type="dcterms:W3CDTF">2026-09-02T12:34:38Z</dcterms:modified>
</cp:coreProperties>
</file>